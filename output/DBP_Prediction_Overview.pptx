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23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87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" cy="4572000"/>
          </a:xfrm>
          <a:prstGeom prst="rect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Config-Driven ML Pipeline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DBP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Methodology &amp; Evaluation Strategy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4023360"/>
            <a:ext cx="2743200" cy="2743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 |  April 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1463040"/>
            <a:ext cx="3108960" cy="4206240"/>
          </a:xfrm>
          <a:prstGeom prst="roundRect">
            <a:avLst>
              <a:gd name="adj" fmla="val 3529"/>
            </a:avLst>
          </a:prstGeom>
          <a:solidFill>
            <a:srgbClr val="25356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039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Data Ingestion &amp; Splitting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2468880"/>
            <a:ext cx="2286000" cy="9144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77824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3063240"/>
            <a:ext cx="2286000" cy="9144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77824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Training Loop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3657600"/>
            <a:ext cx="2286000" cy="9144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3840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K-Fold CV Ensemble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4251960"/>
            <a:ext cx="2286000" cy="9144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78240" y="4434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Hyperparameter Tuning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4846320"/>
            <a:ext cx="2286000" cy="9144"/>
          </a:xfrm>
          <a:prstGeom prst="rect">
            <a:avLst/>
          </a:prstGeom>
          <a:solidFill>
            <a:srgbClr val="3A4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77824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Evaluation &amp; Interpretation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9656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9384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929384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47288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47288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5464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5192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65192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3368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83096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83096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91272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01000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09176" y="137160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18904" y="1234440"/>
            <a:ext cx="1389888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518904" y="12344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286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Through the Pipeline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11064240" cy="379476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2770632"/>
            <a:ext cx="1078992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DATA INGESTION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raw_df = load_dataset(path, feature_cols, target_cols)     # CSV / Excel / Parquet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SPLIT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train_df, test_df = split_by_column(raw_df, col='split')   # predefined labels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FOR EACH TARGET (per-target strategy):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3a. FEATURE PIPELINE (fit on train only)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pipeline.fit(train_X, train_y)                       # scaler, log, impute...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train_X, val_X, test_X = pipeline.transform(...)     # apply to all splits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3b. TUNING (Optuna)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for trial in optuna_study:                            # 50–80 trials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params = trial.suggest(search_space)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objective = cv_rmse_mean + λ * cv_rmse_std        # stability penalty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3c. FINAL ENSEMBLE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best_ensemble = rerun_best_params(record_members=True)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test_preds = ensemble_average(best_ensemble, test_X)  # mean of K models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metrics = compute(RMSE, MAE, R²)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Data Ingestion &amp; Splitting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files to train/test partitions with column-based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120" y="1947672"/>
            <a:ext cx="466344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load_dataset(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      = 'data/dataset.csv',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    = csv | excel | parquet,  # auto-detect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feature_cols = ['pH','TOC',...],      # validated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target_cols  = ['T_THMs','DBCM',...], # validated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split_col    = 'split'               # for partitioning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Splitting Strategy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187452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720840" y="1947672"/>
            <a:ext cx="448056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Primary split: column-based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 = df[df['split'] == 'train']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test_df  = df[df['split'] == 'test']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Secondary split for non-CV training: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train_sub, val_sub = sklearn.train_test_split(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train_df, test_size=val_fraction)  # 0.15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Checks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" cy="146304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49808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existence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86460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feature_cols and target_cols must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in the loaded DataFrame.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4617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383280" y="4617720"/>
            <a:ext cx="54864" cy="1463040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584448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completeness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4448" y="486460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train_label and test_label must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present in the split column.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4864" cy="146304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19088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partitions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19088" y="486460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dropping missing rows, both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must have &gt;0 samples.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52560" y="4617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052560" y="46177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253728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integrity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53728" y="4864608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ExperimentConfig schema validates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before any data is touched.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Feature Engineering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Composable, ordered transforms with strict train-only fitting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00784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92224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1792224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5808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27248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Text 11"/>
          <p:cNvSpPr/>
          <p:nvPr/>
        </p:nvSpPr>
        <p:spPr>
          <a:xfrm>
            <a:off x="3127248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832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62272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6" name="Text 14"/>
          <p:cNvSpPr/>
          <p:nvPr/>
        </p:nvSpPr>
        <p:spPr>
          <a:xfrm>
            <a:off x="4462272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polynomial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05856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97296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Text 17"/>
          <p:cNvSpPr/>
          <p:nvPr/>
        </p:nvSpPr>
        <p:spPr>
          <a:xfrm>
            <a:off x="5797296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Text 20"/>
          <p:cNvSpPr/>
          <p:nvPr/>
        </p:nvSpPr>
        <p:spPr>
          <a:xfrm>
            <a:off x="7132320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67344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25" name="Text 23"/>
          <p:cNvSpPr/>
          <p:nvPr/>
        </p:nvSpPr>
        <p:spPr>
          <a:xfrm>
            <a:off x="8467344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10928" y="137160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02368" y="1325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Text 26"/>
          <p:cNvSpPr/>
          <p:nvPr/>
        </p:nvSpPr>
        <p:spPr>
          <a:xfrm>
            <a:off x="9802368" y="13258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1874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registered BaseTransformer with fit() / transform() / inverse_transform_targets()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331720"/>
            <a:ext cx="5669280" cy="3886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5800" y="2404871"/>
            <a:ext cx="5394960" cy="3527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FeaturePipeline: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 List[BaseTransformer]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fit(X_train, y_train):       # TRAIN ONLY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self.steps: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X_train, y_train = step.fit_transform(X, y)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transform(X, y):             # val / test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self.steps: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X, y = step.transform(X, y)  # no fitting!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inverse_transform_targets(y_pred):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reversed(self.steps):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step.is_target_transformer: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y_pred = step.inverse(y_pred)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64808" y="2075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1500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F556350-89A7-39B5-0B94-EEB5116D0A2F}"/>
              </a:ext>
            </a:extLst>
          </p:cNvPr>
          <p:cNvGrpSpPr/>
          <p:nvPr/>
        </p:nvGrpSpPr>
        <p:grpSpPr>
          <a:xfrm>
            <a:off x="6583680" y="2606040"/>
            <a:ext cx="5029200" cy="3657600"/>
            <a:chOff x="6583680" y="2606040"/>
            <a:chExt cx="5029200" cy="3657600"/>
          </a:xfrm>
        </p:grpSpPr>
        <p:sp>
          <p:nvSpPr>
            <p:cNvPr id="33" name="Shape 31"/>
            <p:cNvSpPr/>
            <p:nvPr/>
          </p:nvSpPr>
          <p:spPr>
            <a:xfrm>
              <a:off x="6583680" y="2606040"/>
              <a:ext cx="5029200" cy="658368"/>
            </a:xfrm>
            <a:prstGeom prst="roundRect">
              <a:avLst>
                <a:gd name="adj" fmla="val 13889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6583680" y="2606040"/>
              <a:ext cx="54864" cy="658368"/>
            </a:xfrm>
            <a:prstGeom prst="rect">
              <a:avLst/>
            </a:prstGeom>
            <a:solidFill>
              <a:srgbClr val="2E509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784848" y="2651760"/>
              <a:ext cx="4709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data leakage</a:t>
              </a:r>
              <a:endParaRPr lang="en-US" sz="12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784848" y="2852928"/>
              <a:ext cx="4709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fit() only sees training rows. Val/test</a:t>
              </a:r>
              <a:r>
                <a:rPr lang="en-US" sz="1200" dirty="0"/>
                <a:t>; </a:t>
              </a: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go through transform() only.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6583680" y="3355848"/>
              <a:ext cx="5029200" cy="658368"/>
            </a:xfrm>
            <a:prstGeom prst="roundRect">
              <a:avLst>
                <a:gd name="adj" fmla="val 13889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6583680" y="3355848"/>
              <a:ext cx="54864" cy="658368"/>
            </a:xfrm>
            <a:prstGeom prst="rect">
              <a:avLst/>
            </a:prstGeom>
            <a:solidFill>
              <a:srgbClr val="2D8F5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6784848" y="3401568"/>
              <a:ext cx="4709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Per-fold re-fitting in CV</a:t>
              </a:r>
              <a:endParaRPr lang="en-US" sz="1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784848" y="3602736"/>
              <a:ext cx="4709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re-fitted on each fold’s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partition independently.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6583680" y="4105656"/>
              <a:ext cx="5029200" cy="658368"/>
            </a:xfrm>
            <a:prstGeom prst="roundRect">
              <a:avLst>
                <a:gd name="adj" fmla="val 13889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6583680" y="4105656"/>
              <a:ext cx="54864" cy="658368"/>
            </a:xfrm>
            <a:prstGeom prst="rect">
              <a:avLst/>
            </a:prstGeom>
            <a:solidFill>
              <a:srgbClr val="E8913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6784848" y="4151376"/>
              <a:ext cx="4709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Automatic scaler fallback</a:t>
              </a:r>
              <a:endParaRPr lang="en-US" sz="12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784848" y="4352544"/>
              <a:ext cx="4709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no feature scaler step, </a:t>
              </a:r>
              <a:r>
                <a:rPr lang="en-US" sz="1200" dirty="0" err="1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StandardScaler</a:t>
              </a: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is applied automatically.</a:t>
              </a:r>
              <a:endParaRPr lang="en-US" sz="12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583680" y="4855464"/>
              <a:ext cx="5029200" cy="658368"/>
            </a:xfrm>
            <a:prstGeom prst="roundRect">
              <a:avLst>
                <a:gd name="adj" fmla="val 13889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6583680" y="4855464"/>
              <a:ext cx="54864" cy="658368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784848" y="4901184"/>
              <a:ext cx="4709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Invertible target transforms</a:t>
              </a:r>
              <a:endParaRPr lang="en-US" sz="1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6784848" y="5102352"/>
              <a:ext cx="4709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Predictions mapped back to original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units via inverse_transform_targets().</a:t>
              </a:r>
              <a:endParaRPr lang="en-US" sz="12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6583680" y="5605272"/>
              <a:ext cx="5029200" cy="658368"/>
            </a:xfrm>
            <a:prstGeom prst="roundRect">
              <a:avLst>
                <a:gd name="adj" fmla="val 13889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Shape 48"/>
            <p:cNvSpPr/>
            <p:nvPr/>
          </p:nvSpPr>
          <p:spPr>
            <a:xfrm>
              <a:off x="6583680" y="5605272"/>
              <a:ext cx="54864" cy="658368"/>
            </a:xfrm>
            <a:prstGeom prst="rect">
              <a:avLst/>
            </a:prstGeom>
            <a:solidFill>
              <a:srgbClr val="1E2A5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49"/>
            <p:cNvSpPr/>
            <p:nvPr/>
          </p:nvSpPr>
          <p:spPr>
            <a:xfrm>
              <a:off x="6784848" y="5650992"/>
              <a:ext cx="4709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Config-driven composition</a:t>
              </a:r>
              <a:endParaRPr lang="en-US" sz="12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6784848" y="5852160"/>
              <a:ext cx="4709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@register_transform enables new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transforms without code changes.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Training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logic across model families via the ModelAdapter pattern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79"/>
            <a:ext cx="6583680" cy="5030315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6309360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train_model(model, X_train, Y_train, X_val, Y_val,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max_epochs, patience, batch_size, lr, ...):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 = make_optimizer(model, name, lr, wd)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loss_fn   = make_loss_fn(loss_name, huber_delta)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best_val, patience_ctr = ∞, 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epoch in range(max_epochs):           # default 1200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Mini-batch gradient descent ──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X_b, Y_b in batches(X_train, Y_train, batch_size):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 = loss_fn(model(X_b), Y_b)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loss.backward()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clip_grad_norm_(model.parameters())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optimizer.step()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Validation &amp; early stopping ──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val_loss = loss_fn(model(X_val), Y_val)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val_loss &lt; best_val: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best_val = val_loss; save_checkpoint(model)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patience_ctr = 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patience_ctr += 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patience_ctr &gt;= patience: break    # default 100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restore_checkpoint(model)  # best by val loss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model, best_val, best_epoch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1325880"/>
            <a:ext cx="4297680" cy="3362096"/>
          </a:xfrm>
          <a:prstGeom prst="roundRect">
            <a:avLst>
              <a:gd name="adj" fmla="val 3846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352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 Parameters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43800" y="1801368"/>
            <a:ext cx="182880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43800" y="18013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72600" y="1801368"/>
            <a:ext cx="210312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72600" y="18013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/ Default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2185416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543800" y="2185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max_epochs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72600" y="2185416"/>
            <a:ext cx="21031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372600" y="21854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25328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543800" y="2532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72600" y="253288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372600" y="25328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2880360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54380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72600" y="2880360"/>
            <a:ext cx="21031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372600" y="28803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AdamW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322783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543800" y="3227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loss_fn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72600" y="322783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372600" y="32278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Huber(δ)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3575304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543800" y="35753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72600" y="3575304"/>
            <a:ext cx="21031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72600" y="35753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8, 16, 32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43800" y="392277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543800" y="3922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grad_clip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72600" y="392277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372600" y="39227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43800" y="4270248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543800" y="4270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372600" y="4270248"/>
            <a:ext cx="21031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372600" y="42702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(PyTorch + NumPy)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4617720"/>
            <a:ext cx="4297680" cy="1738474"/>
          </a:xfrm>
          <a:prstGeom prst="roundRect">
            <a:avLst>
              <a:gd name="adj" fmla="val 5882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458062C-0441-BCD9-4BA5-1ED0F235E868}"/>
              </a:ext>
            </a:extLst>
          </p:cNvPr>
          <p:cNvGrpSpPr/>
          <p:nvPr/>
        </p:nvGrpSpPr>
        <p:grpSpPr>
          <a:xfrm>
            <a:off x="7589520" y="4699125"/>
            <a:ext cx="3840480" cy="1371600"/>
            <a:chOff x="7635240" y="3931920"/>
            <a:chExt cx="3840480" cy="1371600"/>
          </a:xfrm>
        </p:grpSpPr>
        <p:sp>
          <p:nvSpPr>
            <p:cNvPr id="43" name="Text 41"/>
            <p:cNvSpPr/>
            <p:nvPr/>
          </p:nvSpPr>
          <p:spPr>
            <a:xfrm>
              <a:off x="7635240" y="3931920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A5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Unified via ModelAdapter</a:t>
              </a:r>
              <a:endParaRPr lang="en-US" sz="13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635240" y="4206240"/>
              <a:ext cx="384048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All model families implement:</a:t>
              </a: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.fit(X_tr, Y_tr, X_val, Y_val, params)</a:t>
              </a: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→ TrainedModelArtifact</a:t>
              </a: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.predict(artifact, X) → predictions</a:t>
              </a: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.search_space() → Optuna search dict</a:t>
              </a: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endParaRPr lang="en-US" sz="95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1A1A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PyTorch: train_model(). Trees: sklearn .fit().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K-Fold Cross-Validation Ensemble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models with per-fold scaler isolation → ensemble-averaged test predictions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01168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fit(scaler_x, scaler_y)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train model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validate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member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{state, scalers}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3258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743200" y="1325880"/>
            <a:ext cx="2011680" cy="384048"/>
          </a:xfrm>
          <a:prstGeom prst="rect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52928" y="17830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fit(scaler_x, scaler_y)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train model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validate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member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{state, scalers}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3258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D8F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0" y="1325880"/>
            <a:ext cx="2011680" cy="384048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38928" y="17830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fit(scaler_x, scaler_y)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train model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validate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member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{state, scalers}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3258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325880"/>
            <a:ext cx="2011680" cy="38404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17830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fit(scaler_x, scaler_y)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train model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validate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member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{state, scalers}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0" y="13258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1325880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0120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10928" y="17830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fit(scaler_x, scaler_y)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train model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validate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member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{state, scalers}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11247120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200400" y="3840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Ensemble Averaging  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621792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370832"/>
            <a:ext cx="59436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predict_with_ensemble(members, X_test_raw):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preds = []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m in members:                # 5 fold-models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m.scaler_x.transform(X_test_raw)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model(X)                   # forward pass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m.scaler_y.inverse(y)      # back to original scale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preds.append(y)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mean(preds, axis=0)       # ensemble average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49440" y="429768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49440" y="4297680"/>
            <a:ext cx="54864" cy="82296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150608" y="43434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Scaler Isolation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50608" y="454456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fold’s scaler is fitted on its own train partition.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validation/test information leaks into scaling statistics.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52578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949440" y="5257800"/>
            <a:ext cx="54864" cy="822960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150608" y="53035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Ensembling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0608" y="550468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K independently-trained models reduces prediction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without any additional training cost.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Hyperparameter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Optuna-based per-target tuning with TPE sampler and Median pruner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943600" cy="37033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56692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target in selected_targets:    # independent study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study = optuna.create_study(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sampler = TPESampler(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seed=42, n_startup_trials=12–20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pruner = MedianPruner(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n_warmup_steps=1–2       # min folds before prune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objective(trial):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sample_search_space(trial)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 = run_k_fold_cv(params, folds=5)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fold_rmse in enumerate(cv.fold_rmses):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trial.report(fold_rmse, step=i)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trial.should_prune(): raise Pruned()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cv.rmse_mean + λ * cv.rmse_std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study.optimize(objective, n_trials=50–80)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132588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0" y="1325880"/>
            <a:ext cx="54864" cy="114300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059168" y="137160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Independence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59168" y="1572768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gets its own study with its own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parameters. Different targets may prefer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different model configurations —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empirically.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260604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54864" cy="1143000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059168" y="265176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Sampler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59168" y="2852928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Parzen Estimator models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p(params | good trials) vs p(params | bad trials).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n_startup random trials warm up the model,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TPE focuses sampling on promising regions.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88620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3886200"/>
            <a:ext cx="54864" cy="11430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59168" y="393192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Pruner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59168" y="4133088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n_warmup_steps folds, compares the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trial’s running CV metric against the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completed trials. Prunes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unpromising configs early → saves compute.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Strategy:   Scout (broad search, ~60 trials, wide bounds)   →   Formal (narrowed bounds from scout findings, 50–80 trials, full CV)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Stability-Penalized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Regularizing hyperparameter selection to favor robust generalization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9966960" cy="1005840"/>
          </a:xfrm>
          <a:prstGeom prst="roundRect">
            <a:avLst>
              <a:gd name="adj" fmla="val 9091"/>
            </a:avLst>
          </a:prstGeom>
          <a:solidFill>
            <a:srgbClr val="253560"/>
          </a:solidFill>
          <a:ln w="254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 =  cv_rmse_mean  +  λ × cv_rmse_std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0.18     |     Optuna minimizes this combined objective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03520" cy="3840480"/>
          </a:xfrm>
          <a:prstGeom prst="roundRect">
            <a:avLst>
              <a:gd name="adj" fmla="val 2703"/>
            </a:avLst>
          </a:prstGeom>
          <a:solidFill>
            <a:srgbClr val="253560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Without Penalty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1828800" cy="228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A:  cv_rmse = [3.2, 3.1, 3.3, 3.0, 3.4]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mean = 3.20   std = 0.15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B:  cv_rmse = [2.5, 4.8, 2.1, 5.2, 2.9]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mean = 3.50   std = 1.34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C:  cv_rmse = [2.8, 3.0, 2.9, 3.1, 2.7]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mean = 2.90   std = 0.16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4754880" cy="1041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λ: rank by mean only → C &gt; A &gt; B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   λ: objective C = 2.90 + 0.18×0.16 = 2.93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objective A = 3.20 + 0.18×0.15 = 3.23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objective B = 3.50 + 0.18×1.34 = 3.74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preserves C’s lead, heavily penalizes 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5303520" cy="3840480"/>
          </a:xfrm>
          <a:prstGeom prst="roundRect">
            <a:avLst>
              <a:gd name="adj" fmla="val 2703"/>
            </a:avLst>
          </a:prstGeom>
          <a:solidFill>
            <a:srgbClr val="253560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3200400"/>
            <a:ext cx="1828800" cy="228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 completes, the pipeline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verifies ranking robustness: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39319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3931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886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all trials under λ ∈ [0, 0.5]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056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Text 22"/>
          <p:cNvSpPr/>
          <p:nvPr/>
        </p:nvSpPr>
        <p:spPr>
          <a:xfrm>
            <a:off x="6583680" y="44805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4434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switch points where the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trial changes identity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50292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83680" y="50292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4983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λ=0.18 is in a stable region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switch nearby → ranking is robust)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55778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83680" y="5577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532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sensitivity profile to JSON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manual inspection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Search: Scout → Formal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 space narrowing based on empirical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120640" cy="4963408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120640" cy="5029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Scout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search space broadly.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regions work for which target.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trials per model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parameter bounds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tuning.scout: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114799"/>
            <a:ext cx="4572000" cy="1706137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4187952"/>
            <a:ext cx="42976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scout_analysis: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parameter_importances: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lr: 0.35, hidden_dims: 0.25, ...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promising_ranges: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lr: [0.002, 0.008]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max_depth: [3, 6]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trial_history.json  # all trial 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▶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79"/>
            <a:ext cx="5486400" cy="4963407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5486400" cy="5029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2648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Formal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search within narrowed bounds.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5-fold CV with stability penalty.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108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trials (budget varies by model complexity)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narrowed around scout hot spots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tuning.scout: false, tuning.enabled: true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4114800"/>
            <a:ext cx="4937760" cy="1706136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37960" y="4187952"/>
            <a:ext cx="46634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Best params re-run with full recording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best_ensemble: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members: [model_state + scalers] × 5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test_metrics: {rmse, mae, r2}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model_comparison.json  # all models ranked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predictions.csv        # full test output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checkpoint.pt          # deployable artifact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6: Evaluation &amp; Model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metric aggregation: per-fold → per-target → macro → best model selection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Hierarchy</a:t>
            </a:r>
            <a:endParaRPr 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2AB6081-DFE2-0AD8-EA04-B9B7CD843C69}"/>
              </a:ext>
            </a:extLst>
          </p:cNvPr>
          <p:cNvGrpSpPr/>
          <p:nvPr/>
        </p:nvGrpSpPr>
        <p:grpSpPr>
          <a:xfrm>
            <a:off x="548640" y="1691640"/>
            <a:ext cx="10881360" cy="1188720"/>
            <a:chOff x="548640" y="1691640"/>
            <a:chExt cx="9601200" cy="1188720"/>
          </a:xfrm>
        </p:grpSpPr>
        <p:sp>
          <p:nvSpPr>
            <p:cNvPr id="7" name="Shape 5"/>
            <p:cNvSpPr/>
            <p:nvPr/>
          </p:nvSpPr>
          <p:spPr>
            <a:xfrm>
              <a:off x="548640" y="1691640"/>
              <a:ext cx="2194560" cy="118872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2E5090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548640" y="1691640"/>
              <a:ext cx="2194560" cy="365760"/>
            </a:xfrm>
            <a:prstGeom prst="rect">
              <a:avLst/>
            </a:prstGeom>
            <a:solidFill>
              <a:srgbClr val="2E5090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69164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Per-Fold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214884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RMSE, MAE, R² on each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validation fold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761488" y="2011680"/>
              <a:ext cx="274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7280"/>
                  </a:solidFill>
                </a:rPr>
                <a:t>▶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017520" y="1691640"/>
              <a:ext cx="2194560" cy="118872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4A7CC9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Shape 11"/>
            <p:cNvSpPr/>
            <p:nvPr/>
          </p:nvSpPr>
          <p:spPr>
            <a:xfrm>
              <a:off x="3017520" y="1691640"/>
              <a:ext cx="2194560" cy="365760"/>
            </a:xfrm>
            <a:prstGeom prst="rect">
              <a:avLst/>
            </a:prstGeom>
            <a:solidFill>
              <a:srgbClr val="4A7CC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3017520" y="169164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Per-Target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08960" y="214884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Test-set metrics from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ensemble predictions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30368" y="2011680"/>
              <a:ext cx="274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7280"/>
                  </a:solidFill>
                </a:rPr>
                <a:t>▶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486400" y="1691640"/>
              <a:ext cx="2194560" cy="118872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2D8F5E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0" y="1691640"/>
              <a:ext cx="2194560" cy="365760"/>
            </a:xfrm>
            <a:prstGeom prst="rect">
              <a:avLst/>
            </a:prstGeom>
            <a:solidFill>
              <a:srgbClr val="2D8F5E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0" y="169164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 Average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577840" y="214884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of per-target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metrics across all targets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699248" y="2011680"/>
              <a:ext cx="2743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7280"/>
                  </a:solidFill>
                </a:rPr>
                <a:t>▶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955280" y="1691640"/>
              <a:ext cx="2194560" cy="118872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E8913A"/>
              </a:solidFill>
              <a:prstDash val="soli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" name="Shape 21"/>
            <p:cNvSpPr/>
            <p:nvPr/>
          </p:nvSpPr>
          <p:spPr>
            <a:xfrm>
              <a:off x="7955280" y="1691640"/>
              <a:ext cx="2194560" cy="365760"/>
            </a:xfrm>
            <a:prstGeom prst="rect">
              <a:avLst/>
            </a:prstGeom>
            <a:solidFill>
              <a:srgbClr val="E8913A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" name="Text 22"/>
            <p:cNvSpPr/>
            <p:nvPr/>
          </p:nvSpPr>
          <p:spPr>
            <a:xfrm>
              <a:off x="7955280" y="169164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Model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046720" y="2148840"/>
              <a:ext cx="20116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with lowest</a:t>
              </a:r>
              <a:endParaRPr lang="en-US" sz="1400" dirty="0"/>
            </a:p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macro RMSE wins</a:t>
              </a:r>
              <a:endParaRPr lang="en-US" sz="1400" dirty="0"/>
            </a:p>
          </p:txBody>
        </p:sp>
      </p:grpSp>
      <p:sp>
        <p:nvSpPr>
          <p:cNvPr id="26" name="Shape 24"/>
          <p:cNvSpPr/>
          <p:nvPr/>
        </p:nvSpPr>
        <p:spPr>
          <a:xfrm>
            <a:off x="548640" y="3200400"/>
            <a:ext cx="5029200" cy="315468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3273551"/>
            <a:ext cx="4754880" cy="2598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compute_metrics(y_true, y_pred):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rmse = sqrt(mean((y_true - y_pred)²))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mae  = mean(|y_true - y_pred|)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   = 1 - SS_res / SS_tot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{rmse, mae, r2}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Macro = mean across targets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= mean([t_thms_metrics, dbcm_metrics, ...])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Artifacts</a:t>
            </a:r>
            <a:endParaRPr lang="en-US" sz="15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09ADBCE-9BD6-5A99-9FCF-A647965A3D3E}"/>
              </a:ext>
            </a:extLst>
          </p:cNvPr>
          <p:cNvGrpSpPr/>
          <p:nvPr/>
        </p:nvGrpSpPr>
        <p:grpSpPr>
          <a:xfrm>
            <a:off x="5943600" y="3611880"/>
            <a:ext cx="5669280" cy="2743200"/>
            <a:chOff x="5943600" y="3611880"/>
            <a:chExt cx="5669280" cy="2441448"/>
          </a:xfrm>
        </p:grpSpPr>
        <p:sp>
          <p:nvSpPr>
            <p:cNvPr id="29" name="Shape 27"/>
            <p:cNvSpPr/>
            <p:nvPr/>
          </p:nvSpPr>
          <p:spPr>
            <a:xfrm>
              <a:off x="5943600" y="3611880"/>
              <a:ext cx="5669280" cy="429768"/>
            </a:xfrm>
            <a:prstGeom prst="roundRect">
              <a:avLst>
                <a:gd name="adj" fmla="val 21277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Shape 28"/>
            <p:cNvSpPr/>
            <p:nvPr/>
          </p:nvSpPr>
          <p:spPr>
            <a:xfrm>
              <a:off x="5943600" y="3611880"/>
              <a:ext cx="54864" cy="429768"/>
            </a:xfrm>
            <a:prstGeom prst="rect">
              <a:avLst/>
            </a:prstGeom>
            <a:solidFill>
              <a:srgbClr val="2E5090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1" name="Text 29"/>
            <p:cNvSpPr/>
            <p:nvPr/>
          </p:nvSpPr>
          <p:spPr>
            <a:xfrm>
              <a:off x="6144768" y="3657600"/>
              <a:ext cx="5349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model_comparison.json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144768" y="3858768"/>
              <a:ext cx="53492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Per-model, per-target metrics + macro averages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943600" y="4114800"/>
              <a:ext cx="5669280" cy="429768"/>
            </a:xfrm>
            <a:prstGeom prst="roundRect">
              <a:avLst>
                <a:gd name="adj" fmla="val 21277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" name="Shape 32"/>
            <p:cNvSpPr/>
            <p:nvPr/>
          </p:nvSpPr>
          <p:spPr>
            <a:xfrm>
              <a:off x="5943600" y="4114800"/>
              <a:ext cx="54864" cy="429768"/>
            </a:xfrm>
            <a:prstGeom prst="rect">
              <a:avLst/>
            </a:prstGeom>
            <a:solidFill>
              <a:srgbClr val="2D8F5E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5" name="Text 33"/>
            <p:cNvSpPr/>
            <p:nvPr/>
          </p:nvSpPr>
          <p:spPr>
            <a:xfrm>
              <a:off x="6144768" y="4160520"/>
              <a:ext cx="5349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predictions.csv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144768" y="4361688"/>
              <a:ext cx="53492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y_true vs y_pred for all targets on test set</a:t>
              </a:r>
              <a:endParaRPr lang="en-US" sz="14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943600" y="4617720"/>
              <a:ext cx="5669280" cy="429768"/>
            </a:xfrm>
            <a:prstGeom prst="roundRect">
              <a:avLst>
                <a:gd name="adj" fmla="val 21277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Shape 36"/>
            <p:cNvSpPr/>
            <p:nvPr/>
          </p:nvSpPr>
          <p:spPr>
            <a:xfrm>
              <a:off x="5943600" y="4617720"/>
              <a:ext cx="54864" cy="429768"/>
            </a:xfrm>
            <a:prstGeom prst="rect">
              <a:avLst/>
            </a:prstGeom>
            <a:solidFill>
              <a:srgbClr val="E8913A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Text 37"/>
            <p:cNvSpPr/>
            <p:nvPr/>
          </p:nvSpPr>
          <p:spPr>
            <a:xfrm>
              <a:off x="6144768" y="4663440"/>
              <a:ext cx="5349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checkpoint.pt / .joblib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144768" y="4864608"/>
              <a:ext cx="53492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Serialized ensemble: model states + scalers</a:t>
              </a:r>
              <a:endParaRPr lang="en-US" sz="14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943600" y="5120640"/>
              <a:ext cx="5669280" cy="429768"/>
            </a:xfrm>
            <a:prstGeom prst="roundRect">
              <a:avLst>
                <a:gd name="adj" fmla="val 21277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2" name="Shape 40"/>
            <p:cNvSpPr/>
            <p:nvPr/>
          </p:nvSpPr>
          <p:spPr>
            <a:xfrm>
              <a:off x="5943600" y="5120640"/>
              <a:ext cx="54864" cy="429768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3" name="Text 41"/>
            <p:cNvSpPr/>
            <p:nvPr/>
          </p:nvSpPr>
          <p:spPr>
            <a:xfrm>
              <a:off x="6144768" y="5166360"/>
              <a:ext cx="5349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plan.json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144768" y="5367528"/>
              <a:ext cx="53492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Config snapshot + execution metadata</a:t>
              </a:r>
              <a:endParaRPr lang="en-US" sz="14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943600" y="5623560"/>
              <a:ext cx="5669280" cy="429768"/>
            </a:xfrm>
            <a:prstGeom prst="roundRect">
              <a:avLst>
                <a:gd name="adj" fmla="val 21277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6" name="Shape 44"/>
            <p:cNvSpPr/>
            <p:nvPr/>
          </p:nvSpPr>
          <p:spPr>
            <a:xfrm>
              <a:off x="5943600" y="5623560"/>
              <a:ext cx="54864" cy="429768"/>
            </a:xfrm>
            <a:prstGeom prst="rect">
              <a:avLst/>
            </a:prstGeom>
            <a:solidFill>
              <a:srgbClr val="1E2A50"/>
            </a:solidFill>
            <a:ln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7" name="Text 45"/>
            <p:cNvSpPr/>
            <p:nvPr/>
          </p:nvSpPr>
          <p:spPr>
            <a:xfrm>
              <a:off x="6144768" y="5669280"/>
              <a:ext cx="53492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trial_history.json/csv</a:t>
              </a:r>
              <a:endParaRPr lang="en-US" sz="14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6144768" y="5870448"/>
              <a:ext cx="53492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Complete Optuna trial log + pruning status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&amp; Inverse Transform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scaled model output back to physical units (μg/L)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DF2F9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75688" y="15544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E5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5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scaler_x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5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.transform()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95928" y="15544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E2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.forward()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16168" y="15544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EDF2F9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6408" y="15544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2D8F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4672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8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scaler_y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8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.inverse()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56648" y="155448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66960" y="13716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966960" y="13716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9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(μg/L)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468880"/>
            <a:ext cx="5943600" cy="3697744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2542032"/>
            <a:ext cx="56692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inverse_predictions(pred_scaled, data, target):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Priority 1: pipeline target transformer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data['feature_pipeline'] and \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data['feature_pipeline'].has_target_transformer: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pipeline.inverse_transform_targets(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pred_scaled)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Priority 2: standalone scaler_y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pred_2d = pred_scaled.reshape(-1, 1)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data['scaler_y'].inverse_transform(pred_2d)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Design Decisions</a:t>
            </a:r>
            <a:endParaRPr lang="en-US" sz="15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22345DA-4A67-00A0-B8D3-0351F2589971}"/>
              </a:ext>
            </a:extLst>
          </p:cNvPr>
          <p:cNvGrpSpPr/>
          <p:nvPr/>
        </p:nvGrpSpPr>
        <p:grpSpPr>
          <a:xfrm>
            <a:off x="6858000" y="2880360"/>
            <a:ext cx="4846320" cy="3286264"/>
            <a:chOff x="6858000" y="2880360"/>
            <a:chExt cx="4846320" cy="2606040"/>
          </a:xfrm>
        </p:grpSpPr>
        <p:sp>
          <p:nvSpPr>
            <p:cNvPr id="26" name="Shape 24"/>
            <p:cNvSpPr/>
            <p:nvPr/>
          </p:nvSpPr>
          <p:spPr>
            <a:xfrm>
              <a:off x="6858000" y="2880360"/>
              <a:ext cx="4846320" cy="777240"/>
            </a:xfrm>
            <a:prstGeom prst="roundRect">
              <a:avLst>
                <a:gd name="adj" fmla="val 11765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7" name="Shape 25"/>
            <p:cNvSpPr/>
            <p:nvPr/>
          </p:nvSpPr>
          <p:spPr>
            <a:xfrm>
              <a:off x="6858000" y="2880360"/>
              <a:ext cx="54864" cy="777240"/>
            </a:xfrm>
            <a:prstGeom prst="rect">
              <a:avLst/>
            </a:prstGeom>
            <a:solidFill>
              <a:srgbClr val="2E5090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8" name="Text 26"/>
            <p:cNvSpPr/>
            <p:nvPr/>
          </p:nvSpPr>
          <p:spPr>
            <a:xfrm>
              <a:off x="7059168" y="2926080"/>
              <a:ext cx="4526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Two-path inverse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059168" y="3127248"/>
              <a:ext cx="4526280" cy="4846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target transforms take priority over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standalone scaler_y. Ensures correct reversal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log/power transforms applied to targets.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858000" y="3794760"/>
              <a:ext cx="4846320" cy="777240"/>
            </a:xfrm>
            <a:prstGeom prst="roundRect">
              <a:avLst>
                <a:gd name="adj" fmla="val 11765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1" name="Shape 29"/>
            <p:cNvSpPr/>
            <p:nvPr/>
          </p:nvSpPr>
          <p:spPr>
            <a:xfrm>
              <a:off x="6858000" y="3794760"/>
              <a:ext cx="54864" cy="777240"/>
            </a:xfrm>
            <a:prstGeom prst="rect">
              <a:avLst/>
            </a:prstGeom>
            <a:solidFill>
              <a:srgbClr val="2D8F5E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2" name="Text 30"/>
            <p:cNvSpPr/>
            <p:nvPr/>
          </p:nvSpPr>
          <p:spPr>
            <a:xfrm>
              <a:off x="7059168" y="3840480"/>
              <a:ext cx="4526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Per-member inverse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059168" y="4041648"/>
              <a:ext cx="4526280" cy="4846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ensemble member applies its own scaler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(fitted on its fold’s training data) before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averaging — not a shared global scaler.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858000" y="4709160"/>
              <a:ext cx="4846320" cy="777240"/>
            </a:xfrm>
            <a:prstGeom prst="roundRect">
              <a:avLst>
                <a:gd name="adj" fmla="val 11765"/>
              </a:avLst>
            </a:prstGeom>
            <a:solidFill>
              <a:srgbClr val="EDF2F9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Shape 33"/>
            <p:cNvSpPr/>
            <p:nvPr/>
          </p:nvSpPr>
          <p:spPr>
            <a:xfrm>
              <a:off x="6858000" y="4709160"/>
              <a:ext cx="54864" cy="777240"/>
            </a:xfrm>
            <a:prstGeom prst="rect">
              <a:avLst/>
            </a:prstGeom>
            <a:solidFill>
              <a:srgbClr val="E8913A"/>
            </a:solidFill>
            <a:ln/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6" name="Text 34"/>
            <p:cNvSpPr/>
            <p:nvPr/>
          </p:nvSpPr>
          <p:spPr>
            <a:xfrm>
              <a:off x="7059168" y="4754880"/>
              <a:ext cx="4526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A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Metrics on original scale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059168" y="4956048"/>
              <a:ext cx="4526280" cy="4846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RMSE, MAE, R² are always computed in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original physical units after inverse transform.</a:t>
              </a:r>
              <a:endParaRPr lang="en-US" sz="1200" dirty="0"/>
            </a:p>
            <a:p>
              <a:pPr marL="0" indent="0">
                <a:lnSpc>
                  <a:spcPct val="108000"/>
                </a:lnSpc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Never on scaled/normalized values.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&amp;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 experiments with full artifact provenance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03520" cy="4864608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5029200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experiment.yaml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data/dataset.csv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features: [pH, TOC, UV254, ...]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targets:  [T_THMs, DBCM, BDCM]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split: {column: split, train: train, test: test}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strategy: per_target    # or multi_output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drop_missing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scale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params: {method: standard}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random_forest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params: {n_estimators: 350, ...}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tuning: {trials: 60}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seed: 42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max_epochs: 1200, patience: 100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tuning: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true, folds: 5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stability_penalty: 0.18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Guarantees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864" cy="65836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19088" y="18288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seeding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0299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set_seed(42) seeds PyTorch, NumPy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KFold random_state=seed.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532888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2532888"/>
            <a:ext cx="54864" cy="658368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19088" y="2578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snapshot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8483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YAML copied to output dir.</a:t>
            </a:r>
            <a:r>
              <a:rPr lang="en-US" sz="1400" dirty="0"/>
              <a:t> ;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plan.json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records exact params used.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282696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217920" y="3282696"/>
            <a:ext cx="54864" cy="658368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19088" y="33284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timestamping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362102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 ID (20260416T143022Z), All artifacts nested under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032504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217920" y="4032504"/>
            <a:ext cx="54864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19088" y="407822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manifest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34473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maps every output</a:t>
            </a:r>
            <a:r>
              <a:rPr lang="zh-CN" altLang="en-US" sz="1400" dirty="0"/>
              <a:t>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its purpose for audit trails.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478231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4782312"/>
            <a:ext cx="54864" cy="658368"/>
          </a:xfrm>
          <a:prstGeom prst="rect">
            <a:avLst/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19088" y="482803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510748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ExperimentConfig validates all fields</a:t>
            </a:r>
            <a:r>
              <a:rPr lang="zh-CN" altLang="en-US" sz="1400" dirty="0"/>
              <a:t>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data load. Fail early.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553212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217920" y="5532120"/>
            <a:ext cx="54864" cy="658368"/>
          </a:xfrm>
          <a:prstGeom prst="rect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19088" y="55778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Git-trackable configs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5372" y="5839113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in repo. Scout → formal</a:t>
            </a:r>
            <a:r>
              <a:rPr lang="zh-CN" altLang="en-US" sz="1400" dirty="0"/>
              <a:t>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documented in config.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Validation: Representative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pipeline’s effectiveness across two independent datasets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DWTP-B (9 features, 3 targets)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1168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64592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60320" y="1645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RMSE 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645920"/>
            <a:ext cx="1645920" cy="384048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1645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R² 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29968"/>
            <a:ext cx="201168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029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029968"/>
            <a:ext cx="16459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560320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2029968"/>
            <a:ext cx="16459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20299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237744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560320" y="2377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37744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206240" y="2377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724912"/>
            <a:ext cx="201168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724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2724912"/>
            <a:ext cx="16459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560320" y="27249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724912"/>
            <a:ext cx="164592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206240" y="27249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07238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8640" y="3072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307238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560320" y="3072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307238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206240" y="3072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Dataset1 (7 features, per-target best)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977640"/>
            <a:ext cx="2011680" cy="384048"/>
          </a:xfrm>
          <a:prstGeom prst="rect">
            <a:avLst/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0" y="3977640"/>
            <a:ext cx="1828800" cy="384048"/>
          </a:xfrm>
          <a:prstGeom prst="rect">
            <a:avLst/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2560320" y="3977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977640"/>
            <a:ext cx="1463040" cy="384048"/>
          </a:xfrm>
          <a:prstGeom prst="rect">
            <a:avLst/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389120" y="39776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61688"/>
            <a:ext cx="201168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48640" y="43616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THM4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0" y="4361688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2560320" y="43616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89120" y="4361688"/>
            <a:ext cx="146304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389120" y="4361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70916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48640" y="4709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60320" y="470916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2560320" y="4709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89120" y="470916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4389120" y="4709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056632"/>
            <a:ext cx="201168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48640" y="50566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60320" y="5056632"/>
            <a:ext cx="182880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2560320" y="5056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389120" y="5056632"/>
            <a:ext cx="1463040" cy="347472"/>
          </a:xfrm>
          <a:prstGeom prst="rect">
            <a:avLst/>
          </a:prstGeom>
          <a:solidFill>
            <a:srgbClr val="EDF2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4389120" y="5056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0" y="1234440"/>
            <a:ext cx="5242560" cy="5257800"/>
          </a:xfrm>
          <a:prstGeom prst="roundRect">
            <a:avLst>
              <a:gd name="adj" fmla="val 2308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67512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Pipeline Validated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675120" y="1783080"/>
            <a:ext cx="1828800" cy="228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675120" y="19202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6675120" y="1920240"/>
            <a:ext cx="54864" cy="777240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876288" y="196596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tuning matters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876288" y="216712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DBCM’s formal winner (MLP) was not the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winner (XGB). Full CV + stability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corrected the initial selection.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675120" y="278892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6675120" y="2788920"/>
            <a:ext cx="54864" cy="77724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6876288" y="28346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→ formal is effective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876288" y="303580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bounds from scout findings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better results than running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with wide bounds directly.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675120" y="365760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6675120" y="3657600"/>
            <a:ext cx="54864" cy="777240"/>
          </a:xfrm>
          <a:prstGeom prst="rect">
            <a:avLst/>
          </a:prstGeom>
          <a:solidFill>
            <a:srgbClr val="2D8F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6876288" y="37033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averaging works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876288" y="390448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ensemble reduces prediction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compared to single best-fold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both datasets.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675120" y="452628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6675120" y="45262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876288" y="45720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penalty prevents overfitting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876288" y="4773168"/>
            <a:ext cx="47365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High-variance configs were de-ranked.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confirmed model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robust for λ ∈ [0.1, 0.3].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675120" y="53949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EDF2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6675120" y="5394960"/>
            <a:ext cx="54864" cy="777240"/>
          </a:xfrm>
          <a:prstGeom prst="rect">
            <a:avLst/>
          </a:prstGeom>
          <a:solidFill>
            <a:srgbClr val="1E2A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6876288" y="544068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multi-model comparison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876288" y="5641848"/>
            <a:ext cx="4343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adapter interface ensures all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get same data, same CV folds,</a:t>
            </a:r>
            <a:r>
              <a:rPr lang="zh-CN" altLang="en-US" sz="1300" dirty="0"/>
              <a:t>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— apples to apples.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Future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00" cy="5577840"/>
          </a:xfrm>
          <a:prstGeom prst="roundRect">
            <a:avLst>
              <a:gd name="adj" fmla="val 2069"/>
            </a:avLst>
          </a:prstGeom>
          <a:solidFill>
            <a:srgbClr val="253560"/>
          </a:solidFill>
          <a:ln w="12700">
            <a:solidFill>
              <a:srgbClr val="4A7C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Design Principles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1828800" cy="228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Config-driven: one YAML defines the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experiment end-to-end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532888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532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48716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unified adapter interface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adding new models trivial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91256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314553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Leakage-proof: per-fold scaler isolation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train-only pipeline fitting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849624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80390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Stability-aware: penalized objective prevents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in hyperparameter space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507992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2960" y="4507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4462272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efficiency: scout narrows the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before formal tuning invests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120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deterministic seeding, config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timestamped artifact directories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824728"/>
            <a:ext cx="256032" cy="256032"/>
          </a:xfrm>
          <a:prstGeom prst="ellipse">
            <a:avLst/>
          </a:prstGeom>
          <a:solidFill>
            <a:srgbClr val="4A7CC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22960" y="5824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57790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SHAP + feature ablation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feature insights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051560"/>
            <a:ext cx="5394960" cy="5577840"/>
          </a:xfrm>
          <a:prstGeom prst="roundRect">
            <a:avLst>
              <a:gd name="adj" fmla="val 2069"/>
            </a:avLst>
          </a:prstGeom>
          <a:solidFill>
            <a:srgbClr val="253560"/>
          </a:solidFill>
          <a:ln w="12700">
            <a:solidFill>
              <a:srgbClr val="E891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83680" y="1188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0" y="1600200"/>
            <a:ext cx="1828800" cy="228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583680" y="18928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83680" y="1892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18470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2130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patterns, time-series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for dynamic prediction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2551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583680" y="2551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25054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strategy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27889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prediction of all targets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model forward pass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0" y="3209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583680" y="3209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3163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3447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CV ensemble variance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 confidence intervals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83680" y="38679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38221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95160" y="410565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 updates as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monitoring data arrives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83680" y="4526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6583680" y="4526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9516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476402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 multi-plant data,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specific WTPs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83680" y="51846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583680" y="5184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95160" y="51389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integration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95160" y="54223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scout phase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automated NAS or meta-learning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583680" y="5843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583680" y="5843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95160" y="5797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95160" y="60807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SCADA integration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alerting on DBP exceedances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6382</TotalTime>
  <Words>3315</Words>
  <Application>Microsoft Macintosh PowerPoint</Application>
  <PresentationFormat>宽屏</PresentationFormat>
  <Paragraphs>573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DBP Prediction — Training Pipeline</dc:title>
  <dc:subject>PptxGenJS Presentation</dc:subject>
  <dc:creator>PptxGenJS</dc:creator>
  <cp:lastModifiedBy>Xingjian Zou</cp:lastModifiedBy>
  <cp:revision>8</cp:revision>
  <dcterms:created xsi:type="dcterms:W3CDTF">2026-04-16T11:34:34Z</dcterms:created>
  <dcterms:modified xsi:type="dcterms:W3CDTF">2026-04-20T22:02:07Z</dcterms:modified>
</cp:coreProperties>
</file>