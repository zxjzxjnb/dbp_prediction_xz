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9085a3ee84357" /><Relationship Type="http://schemas.openxmlformats.org/officeDocument/2006/relationships/extended-properties" Target="/docProps/app.xml" Id="R7386ca6e9ae341b9" /><Relationship Type="http://schemas.openxmlformats.org/officeDocument/2006/relationships/officeDocument" Target="/ppt/presentation.xml" Id="Rfb9ac806d6ed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c3fd905074faa"/>
  </p:sldMasterIdLst>
  <p:notesMasterIdLst>
    <p:notesMasterId xmlns:r="http://schemas.openxmlformats.org/officeDocument/2006/relationships" r:id="R58390ec2ef4b481b"/>
  </p:notesMasterIdLst>
  <p:sldIdLst>
    <p:sldId xmlns:r="http://schemas.openxmlformats.org/officeDocument/2006/relationships" id="256" r:id="R1627aa7a8bc24fa4"/>
  </p:sldIdLst>
  <p:sldSz cx="6858000" cy="990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c3fd905074faa" /><Relationship Type="http://schemas.openxmlformats.org/officeDocument/2006/relationships/theme" Target="/ppt/theme/theme1.xml" Id="R9c1617790d6c4f63" /><Relationship Type="http://schemas.openxmlformats.org/officeDocument/2006/relationships/notesMaster" Target="/ppt/notesMasters/notesMaster1.xml" Id="R58390ec2ef4b481b" /><Relationship Type="http://schemas.openxmlformats.org/officeDocument/2006/relationships/presProps" Target="/ppt/presProps.xml" Id="Rae97fe413f384448" /><Relationship Type="http://schemas.openxmlformats.org/officeDocument/2006/relationships/viewProps" Target="/ppt/viewProps.xml" Id="R93e373ed070c4312" /><Relationship Type="http://schemas.openxmlformats.org/officeDocument/2006/relationships/tableStyles" Target="/ppt/tableStyles.xml" Id="Re6047b3323404bfb" /><Relationship Type="http://schemas.openxmlformats.org/officeDocument/2006/relationships/slide" Target="/ppt/slides/slide1.xml" Id="R1627aa7a8bc24f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84c5910cd1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IHE DBP Poster">
  <a:themeElements>
    <a:clrScheme name="IHE DBP Poster">
      <a:accent1>
        <a:srgbClr val="2B74B7"/>
      </a:accent1>
      <a:accent2>
        <a:srgbClr val="1B7F79"/>
      </a:accent2>
      <a:accent3>
        <a:srgbClr val="D89A28"/>
      </a:accent3>
      <a:accent4>
        <a:srgbClr val="C44E52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HE DBP Poster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f7d808be624914" /><Relationship Type="http://schemas.openxmlformats.org/officeDocument/2006/relationships/notesMaster" Target="/ppt/notesMasters/notesMaster1.xml" Id="Rf27fb55fbfb74f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f3ebf1eea48c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C89C22C-4593-4CA8-B7CB-ED05509A9A1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F25D14-F2D9-4979-9575-ACEA57E8D2E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415FB2-3D35-4E6B-B1C4-3A83A89A397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EFCEE5-7DCD-4F53-9139-CF1B06843C8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446A52-E30A-42D7-88AE-AC0EBCBAA0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cf0c15f42a4bdd" /><Relationship Type="http://schemas.openxmlformats.org/officeDocument/2006/relationships/slideLayout" Target="/ppt/slideLayouts/slideLayout2.xml" Id="R72c426d5c23048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843C02-7197-4B2C-9C4D-05870917D0A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c426d5c23048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f4ea63d544879" /><Relationship Type="http://schemas.openxmlformats.org/officeDocument/2006/relationships/chart" Target="/ppt/slides/charts/chart1.xml" Id="Rdd06b8f8021147c2" /><Relationship Type="http://schemas.openxmlformats.org/officeDocument/2006/relationships/chart" Target="/ppt/slides/charts/chart2.xml" Id="R1a9553ea315c4d65" /><Relationship Type="http://schemas.openxmlformats.org/officeDocument/2006/relationships/image" Target="/ppt/media/image.png" Id="Rb0e95792a5754404" /><Relationship Type="http://schemas.openxmlformats.org/officeDocument/2006/relationships/notesSlide" Target="/ppt/notesSlides/notesSlide1.xml" Id="R25a4cdaba33e4e37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>
                <a:latin typeface="Lato"/>
                <a:ea typeface="Lato"/>
                <a:cs typeface="Lato"/>
              </a:rPr>
              <a:t>Test R2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latin typeface="Lato"/>
              <a:ea typeface="Lato"/>
              <a:cs typeface="Lato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RF</c:v>
          </c:tx>
          <c:spPr>
            <a:solidFill xmlns:a="http://schemas.openxmlformats.org/drawingml/2006/main">
              <a:srgbClr val="2B74B7"/>
            </a:solidFill>
          </c:spPr>
          <c:cat>
            <c:strLit>
              <c:ptCount val="3"/>
              <c:pt idx="0">
                <c:v>THM4</c:v>
              </c:pt>
              <c:pt idx="1">
                <c:v>BDCM</c:v>
              </c:pt>
              <c:pt idx="2">
                <c:v>DBCM</c:v>
              </c:pt>
            </c:strLit>
          </c:cat>
          <c:val>
            <c:numLit>
              <c:formatCode/>
              <c:ptCount val="3"/>
              <c:pt idx="0">
                <c:v>0.855</c:v>
              </c:pt>
              <c:pt idx="1">
                <c:v>0.8432</c:v>
              </c:pt>
              <c:pt idx="2">
                <c:v>0.4655</c:v>
              </c:pt>
            </c:numLit>
          </c:val>
        </c:ser>
        <c:ser>
          <c:idx val="1"/>
          <c:order val="1"/>
          <c:tx>
            <c:v>XGB</c:v>
          </c:tx>
          <c:spPr>
            <a:solidFill xmlns:a="http://schemas.openxmlformats.org/drawingml/2006/main">
              <a:srgbClr val="D89A28"/>
            </a:solidFill>
          </c:spPr>
          <c:cat>
            <c:strLit>
              <c:ptCount val="3"/>
              <c:pt idx="0">
                <c:v>THM4</c:v>
              </c:pt>
              <c:pt idx="1">
                <c:v>BDCM</c:v>
              </c:pt>
              <c:pt idx="2">
                <c:v>DBCM</c:v>
              </c:pt>
            </c:strLit>
          </c:cat>
          <c:val>
            <c:numLit>
              <c:formatCode/>
              <c:ptCount val="3"/>
              <c:pt idx="0">
                <c:v>0.7487</c:v>
              </c:pt>
              <c:pt idx="1">
                <c:v>0.8071</c:v>
              </c:pt>
              <c:pt idx="2">
                <c:v>0.6333</c:v>
              </c:pt>
            </c:numLit>
          </c:val>
        </c:ser>
        <c:ser>
          <c:idx val="2"/>
          <c:order val="2"/>
          <c:tx>
            <c:v>MLP</c:v>
          </c:tx>
          <c:spPr>
            <a:solidFill xmlns:a="http://schemas.openxmlformats.org/drawingml/2006/main">
              <a:srgbClr val="1B7F79"/>
            </a:solidFill>
          </c:spPr>
          <c:cat>
            <c:strLit>
              <c:ptCount val="3"/>
              <c:pt idx="0">
                <c:v>THM4</c:v>
              </c:pt>
              <c:pt idx="1">
                <c:v>BDCM</c:v>
              </c:pt>
              <c:pt idx="2">
                <c:v>DBCM</c:v>
              </c:pt>
            </c:strLit>
          </c:cat>
          <c:val>
            <c:numLit>
              <c:formatCode/>
              <c:ptCount val="3"/>
              <c:pt idx="0">
                <c:v>0.8109</c:v>
              </c:pt>
              <c:pt idx="1">
                <c:v>0.7801</c:v>
              </c:pt>
              <c:pt idx="2">
                <c:v>0.7134</c:v>
              </c:pt>
            </c:numLit>
          </c:val>
        </c:ser>
        <c:ser>
          <c:idx val="3"/>
          <c:order val="3"/>
          <c:tx>
            <c:v>KAN</c:v>
          </c:tx>
          <c:spPr>
            <a:solidFill xmlns:a="http://schemas.openxmlformats.org/drawingml/2006/main">
              <a:srgbClr val="7A5CA8"/>
            </a:solidFill>
          </c:spPr>
          <c:cat>
            <c:strLit>
              <c:ptCount val="3"/>
              <c:pt idx="0">
                <c:v>THM4</c:v>
              </c:pt>
              <c:pt idx="1">
                <c:v>BDCM</c:v>
              </c:pt>
              <c:pt idx="2">
                <c:v>DBCM</c:v>
              </c:pt>
            </c:strLit>
          </c:cat>
          <c:val>
            <c:numLit>
              <c:formatCode/>
              <c:ptCount val="3"/>
              <c:pt idx="0">
                <c:v>0.714</c:v>
              </c:pt>
              <c:pt idx="1">
                <c:v>0.8202</c:v>
              </c:pt>
              <c:pt idx="2">
                <c:v>0.4999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525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50">
                <a:latin typeface="Lato"/>
                <a:ea typeface="Lato"/>
                <a:cs typeface="Lato"/>
              </a:rPr>
              <a:t>Selected-model SHAP importance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latin typeface="Lato"/>
              <a:ea typeface="Lato"/>
              <a:cs typeface="Lato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THM4 RF</c:v>
          </c:tx>
          <c:spPr>
            <a:solidFill xmlns:a="http://schemas.openxmlformats.org/drawingml/2006/main">
              <a:srgbClr val="2B74B7"/>
            </a:solidFill>
          </c:spPr>
          <c:cat>
            <c:strLit>
              <c:ptCount val="7"/>
              <c:pt idx="0">
                <c:v>Cl2</c:v>
              </c:pt>
              <c:pt idx="1">
                <c:v>TOC</c:v>
              </c:pt>
              <c:pt idx="2">
                <c:v>Bromide</c:v>
              </c:pt>
              <c:pt idx="3">
                <c:v>UV254</c:v>
              </c:pt>
              <c:pt idx="4">
                <c:v>Time</c:v>
              </c:pt>
              <c:pt idx="5">
                <c:v>Temp</c:v>
              </c:pt>
              <c:pt idx="6">
                <c:v>pH</c:v>
              </c:pt>
            </c:strLit>
          </c:cat>
          <c:val>
            <c:numLit>
              <c:formatCode/>
              <c:ptCount val="7"/>
              <c:pt idx="0">
                <c:v>0.2543</c:v>
              </c:pt>
              <c:pt idx="1">
                <c:v>0.205</c:v>
              </c:pt>
              <c:pt idx="2">
                <c:v>0.108</c:v>
              </c:pt>
              <c:pt idx="3">
                <c:v>0.0748</c:v>
              </c:pt>
              <c:pt idx="4">
                <c:v>0.0575</c:v>
              </c:pt>
              <c:pt idx="5">
                <c:v>0.0225</c:v>
              </c:pt>
              <c:pt idx="6">
                <c:v>0.0169</c:v>
              </c:pt>
            </c:numLit>
          </c:val>
        </c:ser>
        <c:ser>
          <c:idx val="1"/>
          <c:order val="1"/>
          <c:tx>
            <c:v>BDCM RF</c:v>
          </c:tx>
          <c:spPr>
            <a:solidFill xmlns:a="http://schemas.openxmlformats.org/drawingml/2006/main">
              <a:srgbClr val="C44E52"/>
            </a:solidFill>
          </c:spPr>
          <c:cat>
            <c:strLit>
              <c:ptCount val="7"/>
              <c:pt idx="0">
                <c:v>Cl2</c:v>
              </c:pt>
              <c:pt idx="1">
                <c:v>TOC</c:v>
              </c:pt>
              <c:pt idx="2">
                <c:v>Bromide</c:v>
              </c:pt>
              <c:pt idx="3">
                <c:v>UV254</c:v>
              </c:pt>
              <c:pt idx="4">
                <c:v>Time</c:v>
              </c:pt>
              <c:pt idx="5">
                <c:v>Temp</c:v>
              </c:pt>
              <c:pt idx="6">
                <c:v>pH</c:v>
              </c:pt>
            </c:strLit>
          </c:cat>
          <c:val>
            <c:numLit>
              <c:formatCode/>
              <c:ptCount val="7"/>
              <c:pt idx="0">
                <c:v>0.2512</c:v>
              </c:pt>
              <c:pt idx="1">
                <c:v>0.1049</c:v>
              </c:pt>
              <c:pt idx="2">
                <c:v>0.4355</c:v>
              </c:pt>
              <c:pt idx="3">
                <c:v>0.1122</c:v>
              </c:pt>
              <c:pt idx="4">
                <c:v>0.0834</c:v>
              </c:pt>
              <c:pt idx="5">
                <c:v>0.0288</c:v>
              </c:pt>
              <c:pt idx="6">
                <c:v>0.0241</c:v>
              </c:pt>
            </c:numLit>
          </c:val>
        </c:ser>
        <c:ser>
          <c:idx val="2"/>
          <c:order val="2"/>
          <c:tx>
            <c:v>DBCM MLP</c:v>
          </c:tx>
          <c:spPr>
            <a:solidFill xmlns:a="http://schemas.openxmlformats.org/drawingml/2006/main">
              <a:srgbClr val="1B7F79"/>
            </a:solidFill>
          </c:spPr>
          <c:cat>
            <c:strLit>
              <c:ptCount val="7"/>
              <c:pt idx="0">
                <c:v>Cl2</c:v>
              </c:pt>
              <c:pt idx="1">
                <c:v>TOC</c:v>
              </c:pt>
              <c:pt idx="2">
                <c:v>Bromide</c:v>
              </c:pt>
              <c:pt idx="3">
                <c:v>UV254</c:v>
              </c:pt>
              <c:pt idx="4">
                <c:v>Time</c:v>
              </c:pt>
              <c:pt idx="5">
                <c:v>Temp</c:v>
              </c:pt>
              <c:pt idx="6">
                <c:v>pH</c:v>
              </c:pt>
            </c:strLit>
          </c:cat>
          <c:val>
            <c:numLit>
              <c:formatCode/>
              <c:ptCount val="7"/>
              <c:pt idx="0">
                <c:v>0.0982</c:v>
              </c:pt>
              <c:pt idx="1">
                <c:v>0.0832</c:v>
              </c:pt>
              <c:pt idx="2">
                <c:v>0.2677</c:v>
              </c:pt>
              <c:pt idx="3">
                <c:v>0.1018</c:v>
              </c:pt>
              <c:pt idx="4">
                <c:v>0.0568</c:v>
              </c:pt>
              <c:pt idx="5">
                <c:v>0.0837</c:v>
              </c:pt>
              <c:pt idx="6">
                <c:v>0.0382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525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446A52-E30A-42D7-88AE-AC0EBCBAA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4BCC3-3C22-41C6-B604-AE95F52C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9F"/>
          </a:solidFill>
          <a:ln xmlns:a="http://schemas.openxmlformats.org/drawingml/2006/main" w="0">
            <a:solidFill>
              <a:srgbClr val="B8D99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1ACF9-C8F4-405F-9FAF-1C23E87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DBP 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7B639-9212-4C5D-AEE9-66EC6051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66700"/>
            <a:ext cx="1333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19"/>
          </a:solidFill>
          <a:ln xmlns:a="http://schemas.openxmlformats.org/drawingml/2006/main" w="0">
            <a:solidFill>
              <a:srgbClr val="F6FF1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3853-32C4-493A-9596-CBC9B3B2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DBP 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43495-B0AF-45A5-BC0B-457EEBD0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ctr">
            <a:normAutofit fontScale="9944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E12"/>
                </a:solidFill>
              </a:defRPr>
            </a:pPr>
            <a:r>
              <a:rPr sz="2100" b="1">
                <a:solidFill>
                  <a:srgbClr val="0B0E12"/>
                </a:solidFill>
              </a:rPr>
              <a:t>- Info 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FF1E8-8B72-483B-9AB5-A00DFBF2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3900"/>
            <a:ext cx="2714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</a:defRPr>
            </a:pPr>
            <a:r>
              <a:rPr sz="900" b="0">
                <a:solidFill>
                  <a:srgbClr val="111827"/>
                </a:solidFill>
              </a:rPr>
              <a:t>Version 1 by Xiaojie Zou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2179A-1EB6-4890-8D75-34075D6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7429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19"/>
          </a:solidFill>
          <a:ln xmlns:a="http://schemas.openxmlformats.org/drawingml/2006/main" w="0">
            <a:solidFill>
              <a:srgbClr val="F6FF1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49713-E5D7-4D25-A74B-D821731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3900"/>
            <a:ext cx="2714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</a:defRPr>
            </a:pPr>
            <a:r>
              <a:rPr sz="900" b="0">
                <a:solidFill>
                  <a:srgbClr val="111827"/>
                </a:solidFill>
              </a:rPr>
              <a:t>Version 1 by Xiaojie Zou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E47FD-04C2-4BF6-A1CC-D62E99B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14425"/>
            <a:ext cx="601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t">
            <a:normAutofit fontScale="743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Predicting disinfection by-products in drinking water with interpretable machine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F375C-30BF-459A-B31C-EDB061F7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82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B5563"/>
                </a:solidFill>
              </a:defRPr>
            </a:pPr>
            <a:r>
              <a:rPr sz="788" b="0">
                <a:solidFill>
                  <a:srgbClr val="4B5563"/>
                </a:solidFill>
              </a:rPr>
              <a:t>Goal: predict THM4, DBCM, and BDCM from water-quality and chlorination variables, then explain which process and precursor signals drive each target.</a:t>
            </a:r>
          </a:p>
          <a:p xmlns:a="http://schemas.openxmlformats.org/drawingml/2006/main">
            <a:pPr algn="ctr">
              <a:defRPr sz="788" b="0">
                <a:solidFill>
                  <a:srgbClr val="4B5563"/>
                </a:solidFill>
              </a:defRPr>
            </a:pPr>
            <a:r>
              <a:rPr sz="788" b="0">
                <a:solidFill>
                  <a:srgbClr val="4B5563"/>
                </a:solidFill>
              </a:rPr>
              <a:t>Data footprint: 488 complete cases, 382 train / 106 test, 7-feature formal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3499-AE41-4485-A36B-A0BA1E9A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0250"/>
            <a:ext cx="2457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998A-3B2D-44C6-B040-44EFDA7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36480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D5"/>
          </a:solidFill>
          <a:ln xmlns:a="http://schemas.openxmlformats.org/drawingml/2006/main" w="0">
            <a:solidFill>
              <a:srgbClr val="F8E4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1E029-5BA0-4908-B40A-9E946EA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36480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3C485-CF87-426B-A381-80FB95E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72125"/>
            <a:ext cx="24574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0"/>
          </a:solidFill>
          <a:ln xmlns:a="http://schemas.openxmlformats.org/drawingml/2006/main" w="0">
            <a:solidFill>
              <a:srgbClr val="E8F3E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07D7B-4CD8-42F6-AE5C-F46360F7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477125"/>
            <a:ext cx="2457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555C5-0E10-483D-9E4A-B5E5F6C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72125"/>
            <a:ext cx="36480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solidFill>
              <a:srgbClr val="F2F4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D9755-861F-4154-B03E-AD62801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0EC"/>
          </a:solidFill>
          <a:ln xmlns:a="http://schemas.openxmlformats.org/drawingml/2006/main" w="0">
            <a:solidFill>
              <a:srgbClr val="BCD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01DDC-2D2C-44A9-9124-6F12D05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00F52-454A-40CC-890D-2A78870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943100" cy="438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CDD5A-DD22-41F7-98B4-B4C01A6F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</a:defRPr>
            </a:pPr>
            <a:r>
              <a:rPr sz="825" b="1">
                <a:solidFill>
                  <a:srgbClr val="111827"/>
                </a:solidFill>
              </a:rPr>
              <a:t>Raw DBP 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B1F6D-37F3-45C8-A410-C5C3986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B5563"/>
                </a:solidFill>
              </a:defRPr>
            </a:pPr>
            <a:r>
              <a:rPr sz="690" b="0">
                <a:solidFill>
                  <a:srgbClr val="4B5563"/>
                </a:solidFill>
              </a:rPr>
              <a:t>514 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4ED67-C3F3-45CD-B1C5-2B8D7B9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1B7F7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1095-989C-4ED9-B2E8-C33DE31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943100" cy="438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0A1A0-7A67-4071-B12E-C7752264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</a:defRPr>
            </a:pPr>
            <a:r>
              <a:rPr sz="825" b="1">
                <a:solidFill>
                  <a:srgbClr val="111827"/>
                </a:solidFill>
              </a:rPr>
              <a:t>Complete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37696-673B-4FC5-AE75-385845CE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B5563"/>
                </a:solidFill>
              </a:defRPr>
            </a:pPr>
            <a:r>
              <a:rPr sz="690" b="0">
                <a:solidFill>
                  <a:srgbClr val="4B5563"/>
                </a:solidFill>
              </a:rPr>
              <a:t>488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FA3F7-7899-4554-B410-CBAB996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6235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1B7F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2B75E-F607-4C5D-8AE8-4CA91C44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9431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5D0F2-7A37-48F2-8497-2F42165E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B7F79"/>
                </a:solidFill>
              </a:defRPr>
            </a:pPr>
            <a:r>
              <a:rPr sz="825" b="1">
                <a:solidFill>
                  <a:srgbClr val="1B7F79"/>
                </a:solidFill>
              </a:rPr>
              <a:t>7-feature backbone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69F3A-63AE-4B75-8A82-B52F12B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4B5563"/>
                </a:solidFill>
              </a:defRPr>
            </a:pPr>
            <a:r>
              <a:rPr sz="645" b="0">
                <a:solidFill>
                  <a:srgbClr val="4B5563"/>
                </a:solidFill>
              </a:rPr>
              <a:t>pH, UV254, Temp,</a:t>
            </a:r>
          </a:p>
          <a:p xmlns:a="http://schemas.openxmlformats.org/drawingml/2006/main">
            <a:pPr algn="ctr">
              <a:defRPr sz="645" b="0">
                <a:solidFill>
                  <a:srgbClr val="4B5563"/>
                </a:solidFill>
              </a:defRPr>
            </a:pPr>
            <a:r>
              <a:rPr sz="645" b="0">
                <a:solidFill>
                  <a:srgbClr val="4B5563"/>
                </a:solidFill>
              </a:rPr>
              <a:t>TOC, Br, Cl2, 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ED287-3577-41FD-BE2F-714C377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1B7F7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0F8C50-2009-401D-845C-D8C5F70B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943100" cy="438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83D7E-BDF2-4AF1-90FD-8B66B10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</a:defRPr>
            </a:pPr>
            <a:r>
              <a:rPr sz="825" b="1">
                <a:solidFill>
                  <a:srgbClr val="111827"/>
                </a:solidFill>
              </a:rPr>
              <a:t>Per-target tuning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EBF4D-9A24-4BA6-A1A0-B0AE9454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B5563"/>
                </a:solidFill>
              </a:defRPr>
            </a:pPr>
            <a:r>
              <a:rPr sz="690" b="0">
                <a:solidFill>
                  <a:srgbClr val="4B5563"/>
                </a:solidFill>
              </a:rPr>
              <a:t>RF, XGB, MLP, KAN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C68F9-46CC-47FB-BED3-378FF91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1B7F7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1CF54F-E09E-42E3-99E0-C9EC3045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943100" cy="438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3A55F-B794-420A-82DE-07337207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</a:defRPr>
            </a:pPr>
            <a:r>
              <a:rPr sz="825" b="1">
                <a:solidFill>
                  <a:srgbClr val="111827"/>
                </a:solidFill>
              </a:rPr>
              <a:t>Final models + SHAP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C6984A-8607-4884-B051-22B258E0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28575" tIns="0" rIns="2857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B5563"/>
                </a:solidFill>
              </a:defRPr>
            </a:pPr>
            <a:r>
              <a:rPr sz="690" b="0">
                <a:solidFill>
                  <a:srgbClr val="4B5563"/>
                </a:solidFill>
              </a:rPr>
              <a:t>Prediction and drivers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860C2-EC88-4045-9BE3-A25F40B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145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Research Question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82C7A0-839C-4598-BF41-A197BD9D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90775"/>
            <a:ext cx="3362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11827"/>
                </a:solidFill>
              </a:defRPr>
            </a:pPr>
            <a:r>
              <a:rPr sz="990" b="1">
                <a:solidFill>
                  <a:srgbClr val="111827"/>
                </a:solidFill>
              </a:rPr>
              <a:t>Can one compact feature set predict DBPs?</a:t>
            </a:r>
          </a:p>
          <a:p xmlns:a="http://schemas.openxmlformats.org/drawingml/2006/main">
            <a:pPr algn="l">
              <a:defRPr sz="990" b="1">
                <a:solidFill>
                  <a:srgbClr val="111827"/>
                </a:solidFill>
              </a:defRPr>
            </a:pPr>
            <a:r>
              <a:rPr sz="990" b="1">
                <a:solidFill>
                  <a:srgbClr val="111827"/>
                </a:solidFill>
              </a:rPr>
              <a:t>Can it reveal target-specific drivers?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391F4E-919B-4C2E-8316-1C11FFF2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19425"/>
            <a:ext cx="733425" cy="533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D56778-2815-4889-BFD2-4BC1EE7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76575"/>
            <a:ext cx="733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B5563"/>
                </a:solidFill>
              </a:defRPr>
            </a:pPr>
            <a:r>
              <a:rPr sz="750" b="1">
                <a:solidFill>
                  <a:srgbClr val="4B5563"/>
                </a:solidFill>
              </a:rPr>
              <a:t>Targets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F070F5-8DFB-45F8-889F-0D11A13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38500"/>
            <a:ext cx="733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0A02B9-DD7D-4239-BD5F-FA9D70A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733425" cy="533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51B6D-6F9F-4131-A399-30B68F53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76575"/>
            <a:ext cx="733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B5563"/>
                </a:solidFill>
              </a:defRPr>
            </a:pPr>
            <a:r>
              <a:rPr sz="750" b="1">
                <a:solidFill>
                  <a:srgbClr val="4B5563"/>
                </a:solidFill>
              </a:rPr>
              <a:t>Features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0B5038-E696-4BBC-A825-194A34C3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38500"/>
            <a:ext cx="733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0F278B-F1C5-43DA-83FA-4BAB39D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19425"/>
            <a:ext cx="733425" cy="533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13CE1E-7658-44C2-9E42-4243D9B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733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B5563"/>
                </a:solidFill>
              </a:defRPr>
            </a:pPr>
            <a:r>
              <a:rPr sz="750" b="1">
                <a:solidFill>
                  <a:srgbClr val="4B5563"/>
                </a:solidFill>
              </a:rPr>
              <a:t>Models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400228-BC04-4CA4-8C69-DCA3BA5A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733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F9BA22-F62F-4CDE-BEE1-28280438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19425"/>
            <a:ext cx="733425" cy="533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F7FD45-32A1-4035-B4FB-EBD37495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76575"/>
            <a:ext cx="733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B5563"/>
                </a:solidFill>
              </a:defRPr>
            </a:pPr>
            <a:r>
              <a:rPr sz="750" b="1">
                <a:solidFill>
                  <a:srgbClr val="4B5563"/>
                </a:solidFill>
              </a:rPr>
              <a:t>CV folds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ADDC0D-E860-4B81-AF6E-5F77B4B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38500"/>
            <a:ext cx="733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CAD8CF-40B9-4730-943C-D27C3EC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95675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4B5563"/>
                </a:solidFill>
              </a:defRPr>
            </a:pPr>
            <a:r>
              <a:rPr sz="630" b="0">
                <a:solidFill>
                  <a:srgbClr val="4B5563"/>
                </a:solidFill>
              </a:rPr>
              <a:t>Backbone: pH, UV254, temperature, TOC, bromide, Cl2 dose, contact time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2C6C79-62CC-4B54-B2FF-6C39BAE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624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Final Target-Specific Models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8CBEC9-56F6-4BC4-AEB7-BA0AD824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9525">
            <a:solidFill>
              <a:srgbClr val="0B5D5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7279EF-C7DE-4898-9E28-B512776B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14825"/>
            <a:ext cx="457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</a:defRPr>
            </a:pPr>
            <a:r>
              <a:rPr sz="66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1338BA-3467-46B6-B66C-E6EBB76D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9525">
            <a:solidFill>
              <a:srgbClr val="0B5D57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66DA6B-B9FB-47FD-A163-7FA7281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1181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</a:defRPr>
            </a:pPr>
            <a:r>
              <a:rPr sz="660" b="1">
                <a:solidFill>
                  <a:srgbClr val="FFFFFF"/>
                </a:solidFill>
              </a:rPr>
              <a:t>Winner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7318D3-224F-4B25-AA71-61B7562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9525">
            <a:solidFill>
              <a:srgbClr val="0B5D57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12A01A-D1E9-4CD2-86CB-B454CEB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1482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</a:defRPr>
            </a:pPr>
            <a:r>
              <a:rPr sz="66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4960E8-1B85-4606-8151-23C674FE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9525">
            <a:solidFill>
              <a:srgbClr val="0B5D5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A4AAA2-29CF-4377-A3DF-CD89031C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</a:defRPr>
            </a:pPr>
            <a:r>
              <a:rPr sz="66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F3452A-C7AE-4BBF-B175-3BEF7D5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9525">
            <a:solidFill>
              <a:srgbClr val="0B5D57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61B97A-A9C7-4361-BDB5-08D432CF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1482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</a:defRPr>
            </a:pPr>
            <a:r>
              <a:rPr sz="660" b="1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D36A51-C90C-4D09-A570-CD8FC6B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0F169D-58AB-4406-9D0F-6BE7927A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24375"/>
            <a:ext cx="457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1">
                <a:solidFill>
                  <a:srgbClr val="111827"/>
                </a:solidFill>
              </a:defRPr>
            </a:pPr>
            <a:r>
              <a:rPr sz="682" b="1">
                <a:solidFill>
                  <a:srgbClr val="111827"/>
                </a:solidFill>
              </a:rPr>
              <a:t>THM4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F5E2FB-50FC-4E27-86C5-128562EC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958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BDB738F-A825-4F69-9749-093C5156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24375"/>
            <a:ext cx="1181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Random Forest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2363DB-8CEE-4E68-8C0B-CB436C6B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C6F847-C30F-4EEA-8ECC-9FF159C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2437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37.38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6CF92A-D1FD-44A1-83E1-F6FE76B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95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F63E64-3307-4A07-B241-F2436071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25.93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CA87EE-DC7B-4F53-9F86-4539F95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958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438720-F20A-45A9-8688-9CF1B1F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2437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0.855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72838A-0DB3-4A24-B609-62B0D77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374EE7-3CAB-45DB-BCC3-399D421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33925"/>
            <a:ext cx="457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1">
                <a:solidFill>
                  <a:srgbClr val="111827"/>
                </a:solidFill>
              </a:defRPr>
            </a:pPr>
            <a:r>
              <a:rPr sz="682" b="1">
                <a:solidFill>
                  <a:srgbClr val="111827"/>
                </a:solidFill>
              </a:rPr>
              <a:t>BDCM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E8E912-A7B2-49F0-9244-FF83AFA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F8718D-FB8E-4772-9769-2EAACF4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33925"/>
            <a:ext cx="1181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Random Forest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ACF029-A5BC-44C2-9FBC-8F67DC33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48FFD3-DBC9-4CAD-8736-073ABF84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3392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8.43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E3AE2F-76FE-474B-9F00-8652DAE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053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C84CB3-61B2-48B7-BC4F-1B26E8A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3392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6.32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154F124-7AAB-4556-BD33-118D9A6D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053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303438-49E4-46AE-83DF-02373D4F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3392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0.843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83A349-0BE4-40E3-BE14-02BE10DB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14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CDEEB7-0D73-4055-91EB-9E4A5E0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43475"/>
            <a:ext cx="457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1">
                <a:solidFill>
                  <a:srgbClr val="111827"/>
                </a:solidFill>
              </a:defRPr>
            </a:pPr>
            <a:r>
              <a:rPr sz="682" b="1">
                <a:solidFill>
                  <a:srgbClr val="111827"/>
                </a:solidFill>
              </a:rPr>
              <a:t>DBCM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B88F5E-12C7-4308-B095-B6A945D6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16869E7-57E2-483C-B058-42E14FAF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43475"/>
            <a:ext cx="1181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MLP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E3E314-8D8E-4796-A8A7-D613EB29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C5666E-1943-46D6-B2B5-4DCD77C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4347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4.92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1E6BDF6-2016-425D-817A-50AA303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14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8DB4068-0813-4734-8040-1ACE2AD0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43475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3.34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AD02C1A-4A78-4CE0-A3E8-A80BA769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149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C5489D-C334-4A88-84B0-4ED1669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4347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111827"/>
                </a:solidFill>
              </a:defRPr>
            </a:pPr>
            <a:r>
              <a:rPr sz="682" b="0">
                <a:solidFill>
                  <a:srgbClr val="111827"/>
                </a:solidFill>
              </a:rPr>
              <a:t>0.713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F9062E-810F-48A0-9514-47DBC78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B7280"/>
                </a:solidFill>
              </a:defRPr>
            </a:pPr>
            <a:r>
              <a:rPr sz="638" b="0">
                <a:solidFill>
                  <a:srgbClr val="6B7280"/>
                </a:solidFill>
              </a:rPr>
              <a:t>Formal 7-feature test set; best model chosen by target-level validation.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5F11C9-1EC5-4C14-8593-F2E180B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7F79"/>
                </a:solidFill>
              </a:defRPr>
            </a:pPr>
            <a:r>
              <a:rPr sz="1125" b="1">
                <a:solidFill>
                  <a:srgbClr val="1B7F79"/>
                </a:solidFill>
              </a:rPr>
              <a:t>Key Findings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456487-BD65-4ED1-9283-84706A75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217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98753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11827"/>
                </a:solidFill>
              </a:defRPr>
            </a:pPr>
            <a:r>
              <a:rPr sz="713" b="0">
                <a:solidFill>
                  <a:srgbClr val="111827"/>
                </a:solidFill>
              </a:rPr>
              <a:t>- Shared 7-feature backbone retained for THM4, BDCM, and DBCM.</a:t>
            </a:r>
          </a:p>
          <a:p xmlns:a="http://schemas.openxmlformats.org/drawingml/2006/main">
            <a:pPr algn="l">
              <a:defRPr sz="713" b="0">
                <a:solidFill>
                  <a:srgbClr val="111827"/>
                </a:solidFill>
              </a:defRPr>
            </a:pPr>
            <a:r>
              <a:rPr sz="713" b="0">
                <a:solidFill>
                  <a:srgbClr val="111827"/>
                </a:solidFill>
              </a:rPr>
              <a:t>- Cl2 dose is the strongest THM4 driver; TOC stays the main precursor signal.</a:t>
            </a:r>
          </a:p>
          <a:p xmlns:a="http://schemas.openxmlformats.org/drawingml/2006/main">
            <a:pPr algn="l">
              <a:defRPr sz="713" b="0">
                <a:solidFill>
                  <a:srgbClr val="111827"/>
                </a:solidFill>
              </a:defRPr>
            </a:pPr>
            <a:r>
              <a:rPr sz="713" b="0">
                <a:solidFill>
                  <a:srgbClr val="111827"/>
                </a:solidFill>
              </a:rPr>
              <a:t>- Bromide leads both brominated targets, especially BDCM and DBCM.</a:t>
            </a:r>
          </a:p>
          <a:p xmlns:a="http://schemas.openxmlformats.org/drawingml/2006/main">
            <a:pPr algn="l">
              <a:defRPr sz="713" b="0">
                <a:solidFill>
                  <a:srgbClr val="111827"/>
                </a:solidFill>
              </a:defRPr>
            </a:pPr>
            <a:r>
              <a:rPr sz="713" b="0">
                <a:solidFill>
                  <a:srgbClr val="111827"/>
                </a:solidFill>
              </a:rPr>
              <a:t>- Contact time contributes non-zero signal, but remains secondary.</a:t>
            </a:r>
          </a:p>
          <a:p xmlns:a="http://schemas.openxmlformats.org/drawingml/2006/main">
            <a:pPr algn="l">
              <a:defRPr sz="713" b="0">
                <a:solidFill>
                  <a:srgbClr val="111827"/>
                </a:solidFill>
              </a:defRPr>
            </a:pPr>
            <a:r>
              <a:rPr sz="713" b="0">
                <a:solidFill>
                  <a:srgbClr val="111827"/>
                </a:solidFill>
              </a:rPr>
              <a:t>- KAN did not win the final formal runs; RF/MLP were more stable here.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31F3F7C-79FE-40D1-A83D-7A15DD7C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86600"/>
            <a:ext cx="2171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t">
            <a:normAutofit fontScale="87018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4B5563"/>
                </a:solidFill>
              </a:defRPr>
            </a:pPr>
            <a:r>
              <a:rPr sz="600" b="1">
                <a:solidFill>
                  <a:srgbClr val="4B5563"/>
                </a:solidFill>
              </a:rPr>
              <a:t>Guardrail: SHAP ranks explain model behavior under this data distribution; they are not stand-alone causal claims.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0BFBBA7-77A7-48C1-8344-8447F485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914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Model Performance</a:t>
            </a:r>
          </a:p>
        </p:txBody>
      </p:sp>
      <p:graphicFrame>
        <p:nvGraphicFramePr>
          <p:cNvPr id="100" name="Chart"/>
          <p:cNvGraphicFramePr/>
          <p:nvPr/>
        </p:nvGraphicFramePr>
        <p:xfrm>
          <a:off xmlns:a="http://schemas.openxmlformats.org/drawingml/2006/main" x="476250" y="7810500"/>
          <a:ext xmlns:a="http://schemas.openxmlformats.org/drawingml/2006/main" cx="2171700" cy="990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06b8f8021147c2"/>
          </a:graphicData>
        </a:graphic>
      </p:graphicFrame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3E7CEA-5E58-4EE5-B0E6-6715FFE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95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What Drives Each Target?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7AE37F-A730-4FC0-BB1B-4E2C5B5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34075"/>
            <a:ext cx="3286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Mean absolute SHAP values from the selected 7-feature winners show a split between process-driven THM4 and bromide-led brominated DBPs.</a:t>
            </a:r>
          </a:p>
        </p:txBody>
      </p:sp>
      <p:graphicFrame>
        <p:nvGraphicFramePr>
          <p:cNvPr id="103" name="Chart"/>
          <p:cNvGraphicFramePr/>
          <p:nvPr/>
        </p:nvGraphicFramePr>
        <p:xfrm>
          <a:off xmlns:a="http://schemas.openxmlformats.org/drawingml/2006/main" x="3028950" y="6238875"/>
          <a:ext xmlns:a="http://schemas.openxmlformats.org/drawingml/2006/main" cx="3333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9553ea315c4d65"/>
          </a:graphicData>
        </a:graphic>
      </p:graphicFrame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8D06A7-CCFE-4BFE-9D6D-545E1D91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305800"/>
            <a:ext cx="99060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40BE7CC-60D4-443F-95C1-CB27024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8305800"/>
            <a:ext cx="99060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A47A88-F940-4A7F-826A-DF8967DB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305800"/>
            <a:ext cx="99060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8620BD-6024-4F20-A87D-3C3C6B6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8362950"/>
            <a:ext cx="895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>
            <a:normAutofit fontScale="84896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2B74B7"/>
                </a:solidFill>
              </a:defRPr>
            </a:pPr>
            <a:r>
              <a:rPr sz="615" b="1">
                <a:solidFill>
                  <a:srgbClr val="2B74B7"/>
                </a:solidFill>
              </a:rPr>
              <a:t>THM4: Cl2 dose + TOC dominate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07D652A-FC88-464D-B2A4-8C4A5F7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362950"/>
            <a:ext cx="895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>
            <a:normAutofit fontScale="84896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C44E52"/>
                </a:solidFill>
              </a:defRPr>
            </a:pPr>
            <a:r>
              <a:rPr sz="615" b="1">
                <a:solidFill>
                  <a:srgbClr val="C44E52"/>
                </a:solidFill>
              </a:rPr>
              <a:t>BDCM: Bromide leads strongly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46D480-B1E4-4692-97E2-CB016F9A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362950"/>
            <a:ext cx="895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>
            <a:normAutofit fontScale="84896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B7F79"/>
                </a:solidFill>
              </a:defRPr>
            </a:pPr>
            <a:r>
              <a:rPr sz="615" b="1">
                <a:solidFill>
                  <a:srgbClr val="1B7F79"/>
                </a:solidFill>
              </a:rPr>
              <a:t>DBCM: MLP captures smoother mix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623868B-F159-456E-B4F6-F4FF7835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0868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9050" tIns="0" rIns="19050" bIns="0" anchor="t">
            <a:normAutofit fontScale="9039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</a:defRPr>
            </a:pPr>
            <a:r>
              <a:rPr sz="825" b="1">
                <a:solidFill>
                  <a:srgbClr val="111827"/>
                </a:solidFill>
              </a:rPr>
              <a:t>Take-home: keep the 7-feature backbone, choose models per target, and read drivers as distribution-aware model explanations.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95792a5754404"/>
          <a:stretch xmlns:a="http://schemas.openxmlformats.org/drawingml/2006/main"/>
        </p:blipFill>
        <p:spPr>
          <a:xfrm xmlns:a="http://schemas.openxmlformats.org/drawingml/2006/main">
            <a:off x="843737" y="9429750"/>
            <a:ext cx="1074777" cy="381000"/>
          </a:xfrm>
          <a:prstGeom xmlns:a="http://schemas.openxmlformats.org/drawingml/2006/main" prst="rect">
            <a:avLst/>
          </a:prstGeom>
        </p:spPr>
      </p:pic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A64916-45D6-496B-9EE1-1B103C7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9467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D3"/>
          </a:solidFill>
          <a:ln xmlns:a="http://schemas.openxmlformats.org/drawingml/2006/main" w="9525">
            <a:solidFill>
              <a:srgbClr val="075E8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2914E8-12E4-424D-8615-89A82CDA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9515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Contact: Xiaojie Zou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AF2624-99DD-455D-853E-85278B5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5154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19"/>
          </a:solidFill>
          <a:ln xmlns:a="http://schemas.openxmlformats.org/drawingml/2006/main" w="0">
            <a:solidFill>
              <a:srgbClr val="F6FF19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BD03001-91C6-41D5-8C51-1FD8CE7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9515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Contact: Xiaojie Zou</a:t>
            </a:r>
          </a:p>
        </p:txBody>
      </p:sp>
    </p:spTree>
    <p:extLst>
      <p:ext uri="{BB962C8B-B14F-4D97-AF65-F5344CB8AC3E}">
        <p14:creationId xmlns:p14="http://schemas.microsoft.com/office/powerpoint/2010/main" val="1512492382"/>
      </p:ext>
    </p:extLst>
  </p:cSld>
</p:sld>
</file>

<file path=ppt/theme/theme1.xml><?xml version="1.0" encoding="utf-8"?>
<a:theme xmlns:a="http://schemas.openxmlformats.org/drawingml/2006/main" name="IHE DBP Poster">
  <a:themeElements>
    <a:clrScheme name="IHE DBP Poster">
      <a:accent1>
        <a:srgbClr val="2B74B7"/>
      </a:accent1>
      <a:accent2>
        <a:srgbClr val="1B7F79"/>
      </a:accent2>
      <a:accent3>
        <a:srgbClr val="D89A28"/>
      </a:accent3>
      <a:accent4>
        <a:srgbClr val="C44E52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HE DBP Poster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2026-04-22T12:50:08.4660000Z</dcterms:created>
  <dcterms:modified xsi:type="dcterms:W3CDTF">2026-04-22T12:50:08.4670000Z</dcterms:modified>
</coreProperties>
</file>